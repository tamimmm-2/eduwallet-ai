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D3BE"/>
    <a:srgbClr val="2DD4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2" d="100"/>
          <a:sy n="62" d="100"/>
        </p:scale>
        <p:origin x="804"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eduwallet-ai.streamlit.app/"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875520" cy="292608"/>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2026 SHENZHEN INTERNATIONAL FINTECH COMPETITION</a:t>
            </a:r>
          </a:p>
        </p:txBody>
      </p:sp>
      <p:sp>
        <p:nvSpPr>
          <p:cNvPr id="4" name="TextBox 3"/>
          <p:cNvSpPr txBox="1"/>
          <p:nvPr/>
        </p:nvSpPr>
        <p:spPr>
          <a:xfrm>
            <a:off x="749808" y="1417320"/>
            <a:ext cx="10424160" cy="841248"/>
          </a:xfrm>
          <a:prstGeom prst="rect">
            <a:avLst/>
          </a:prstGeom>
          <a:noFill/>
        </p:spPr>
        <p:txBody>
          <a:bodyPr wrap="square" lIns="36576" tIns="36576" rIns="36576" bIns="36576" anchor="t">
            <a:spAutoFit/>
          </a:bodyPr>
          <a:lstStyle/>
          <a:p>
            <a:pPr algn="l">
              <a:spcAft>
                <a:spcPts val="0"/>
              </a:spcAft>
            </a:pPr>
            <a:r>
              <a:rPr sz="4200" b="1" dirty="0">
                <a:solidFill>
                  <a:srgbClr val="F5F8FC"/>
                </a:solidFill>
                <a:latin typeface="Aptos"/>
              </a:rPr>
              <a:t>EduWallet AI</a:t>
            </a:r>
          </a:p>
        </p:txBody>
      </p:sp>
      <p:sp>
        <p:nvSpPr>
          <p:cNvPr id="5" name="TextBox 4"/>
          <p:cNvSpPr txBox="1"/>
          <p:nvPr/>
        </p:nvSpPr>
        <p:spPr>
          <a:xfrm>
            <a:off x="777240" y="2331720"/>
            <a:ext cx="9601200" cy="1051560"/>
          </a:xfrm>
          <a:prstGeom prst="rect">
            <a:avLst/>
          </a:prstGeom>
          <a:noFill/>
        </p:spPr>
        <p:txBody>
          <a:bodyPr wrap="square" lIns="36576" tIns="36576" rIns="36576" bIns="36576" anchor="t">
            <a:spAutoFit/>
          </a:bodyPr>
          <a:lstStyle/>
          <a:p>
            <a:pPr algn="l">
              <a:spcAft>
                <a:spcPts val="0"/>
              </a:spcAft>
            </a:pPr>
            <a:r>
              <a:rPr sz="2500" b="1">
                <a:solidFill>
                  <a:srgbClr val="99F6E4"/>
                </a:solidFill>
                <a:latin typeface="Aptos"/>
              </a:rPr>
              <a:t>International Student Financial
Readiness Simulator</a:t>
            </a:r>
          </a:p>
        </p:txBody>
      </p:sp>
      <p:sp>
        <p:nvSpPr>
          <p:cNvPr id="6" name="TextBox 5"/>
          <p:cNvSpPr txBox="1"/>
          <p:nvPr/>
        </p:nvSpPr>
        <p:spPr>
          <a:xfrm>
            <a:off x="804672" y="3794760"/>
            <a:ext cx="9784080" cy="320040"/>
          </a:xfrm>
          <a:prstGeom prst="rect">
            <a:avLst/>
          </a:prstGeom>
          <a:noFill/>
        </p:spPr>
        <p:txBody>
          <a:bodyPr wrap="square" lIns="36576" tIns="36576" rIns="36576" bIns="36576" anchor="t">
            <a:spAutoFit/>
          </a:bodyPr>
          <a:lstStyle/>
          <a:p>
            <a:pPr algn="l">
              <a:spcAft>
                <a:spcPts val="0"/>
              </a:spcAft>
            </a:pPr>
            <a:r>
              <a:rPr sz="1500" b="0">
                <a:solidFill>
                  <a:srgbClr val="F5F8FC"/>
                </a:solidFill>
                <a:latin typeface="Aptos"/>
              </a:rPr>
              <a:t>Cross-border &amp; Student Finance Assistant  |  Topic C</a:t>
            </a:r>
          </a:p>
        </p:txBody>
      </p:sp>
      <p:sp>
        <p:nvSpPr>
          <p:cNvPr id="7" name="TextBox 6"/>
          <p:cNvSpPr txBox="1"/>
          <p:nvPr/>
        </p:nvSpPr>
        <p:spPr>
          <a:xfrm>
            <a:off x="804672" y="4315968"/>
            <a:ext cx="9784080" cy="731520"/>
          </a:xfrm>
          <a:prstGeom prst="rect">
            <a:avLst/>
          </a:prstGeom>
          <a:noFill/>
        </p:spPr>
        <p:txBody>
          <a:bodyPr wrap="square" lIns="36576" tIns="36576" rIns="36576" bIns="36576" anchor="t">
            <a:spAutoFit/>
          </a:bodyPr>
          <a:lstStyle/>
          <a:p>
            <a:pPr algn="l">
              <a:spcAft>
                <a:spcPts val="0"/>
              </a:spcAft>
            </a:pPr>
            <a:r>
              <a:rPr sz="1500" b="0">
                <a:solidFill>
                  <a:srgbClr val="B1BECF"/>
                </a:solidFill>
                <a:latin typeface="Aptos"/>
              </a:rPr>
              <a:t>A practical budgeting prototype to help international students explore study costs, funding gaps and financial stress scenarios.</a:t>
            </a:r>
          </a:p>
        </p:txBody>
      </p:sp>
      <p:sp>
        <p:nvSpPr>
          <p:cNvPr id="8" name="Rounded Rectangle 7"/>
          <p:cNvSpPr/>
          <p:nvPr/>
        </p:nvSpPr>
        <p:spPr>
          <a:xfrm>
            <a:off x="804672" y="5669280"/>
            <a:ext cx="3200400" cy="47548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5797296"/>
            <a:ext cx="2926080" cy="212366"/>
          </a:xfrm>
          <a:prstGeom prst="rect">
            <a:avLst/>
          </a:prstGeom>
          <a:noFill/>
        </p:spPr>
        <p:txBody>
          <a:bodyPr wrap="square" lIns="36576" tIns="36576" rIns="36576" bIns="36576" anchor="t">
            <a:spAutoFit/>
          </a:bodyPr>
          <a:lstStyle/>
          <a:p>
            <a:pPr algn="l">
              <a:spcAft>
                <a:spcPts val="0"/>
              </a:spcAft>
            </a:pPr>
            <a:r>
              <a:rPr sz="900" b="1" dirty="0">
                <a:solidFill>
                  <a:srgbClr val="2DD4BF"/>
                </a:solidFill>
                <a:latin typeface="Aptos"/>
              </a:rPr>
              <a:t>TEAM: </a:t>
            </a:r>
            <a:r>
              <a:rPr lang="en-US" sz="900" b="1" dirty="0">
                <a:solidFill>
                  <a:srgbClr val="2DD4BF"/>
                </a:solidFill>
                <a:latin typeface="Aptos"/>
              </a:rPr>
              <a:t>EduWallet AI</a:t>
            </a:r>
            <a:endParaRPr sz="900" b="1" dirty="0">
              <a:solidFill>
                <a:srgbClr val="2DD4BF"/>
              </a:solidFill>
              <a:latin typeface="Aptos"/>
            </a:endParaRPr>
          </a:p>
        </p:txBody>
      </p:sp>
      <p:sp>
        <p:nvSpPr>
          <p:cNvPr id="10" name="TextBox 9"/>
          <p:cNvSpPr txBox="1"/>
          <p:nvPr/>
        </p:nvSpPr>
        <p:spPr>
          <a:xfrm>
            <a:off x="804672" y="6419088"/>
            <a:ext cx="10607040" cy="201168"/>
          </a:xfrm>
          <a:prstGeom prst="rect">
            <a:avLst/>
          </a:prstGeom>
          <a:noFill/>
        </p:spPr>
        <p:txBody>
          <a:bodyPr wrap="square" lIns="36576" tIns="36576" rIns="36576" bIns="36576" anchor="t">
            <a:spAutoFit/>
          </a:bodyPr>
          <a:lstStyle/>
          <a:p>
            <a:pPr algn="l">
              <a:spcAft>
                <a:spcPts val="0"/>
              </a:spcAft>
            </a:pPr>
            <a:r>
              <a:rPr sz="800" b="0">
                <a:solidFill>
                  <a:srgbClr val="B1BECF"/>
                </a:solidFill>
                <a:latin typeface="Aptos"/>
              </a:rPr>
              <a:t>Competition prototype • Illustrative planning only • No live financial integrations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01 / THE PROBLEM</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Studying abroad is a financial decision</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Students need to understand the full cost—not just tuition.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02</a:t>
            </a:r>
          </a:p>
        </p:txBody>
      </p:sp>
      <p:sp>
        <p:nvSpPr>
          <p:cNvPr id="7" name="Rounded Rectangle 6"/>
          <p:cNvSpPr/>
          <p:nvPr/>
        </p:nvSpPr>
        <p:spPr>
          <a:xfrm>
            <a:off x="685800"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01</a:t>
            </a:r>
          </a:p>
        </p:txBody>
      </p:sp>
      <p:sp>
        <p:nvSpPr>
          <p:cNvPr id="9" name="TextBox 8"/>
          <p:cNvSpPr txBox="1"/>
          <p:nvPr/>
        </p:nvSpPr>
        <p:spPr>
          <a:xfrm>
            <a:off x="914400"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Costs add up</a:t>
            </a:r>
          </a:p>
        </p:txBody>
      </p:sp>
      <p:sp>
        <p:nvSpPr>
          <p:cNvPr id="10" name="TextBox 9"/>
          <p:cNvSpPr txBox="1"/>
          <p:nvPr/>
        </p:nvSpPr>
        <p:spPr>
          <a:xfrm>
            <a:off x="914400"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Tuition, setup costs and monthly living expenses can create a large total budget.</a:t>
            </a:r>
          </a:p>
        </p:txBody>
      </p:sp>
      <p:sp>
        <p:nvSpPr>
          <p:cNvPr id="11" name="Rounded Rectangle 10"/>
          <p:cNvSpPr/>
          <p:nvPr/>
        </p:nvSpPr>
        <p:spPr>
          <a:xfrm>
            <a:off x="4507992"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36592"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02</a:t>
            </a:r>
          </a:p>
        </p:txBody>
      </p:sp>
      <p:sp>
        <p:nvSpPr>
          <p:cNvPr id="13" name="TextBox 12"/>
          <p:cNvSpPr txBox="1"/>
          <p:nvPr/>
        </p:nvSpPr>
        <p:spPr>
          <a:xfrm>
            <a:off x="4736592"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Funds can fall short</a:t>
            </a:r>
          </a:p>
        </p:txBody>
      </p:sp>
      <p:sp>
        <p:nvSpPr>
          <p:cNvPr id="14" name="TextBox 13"/>
          <p:cNvSpPr txBox="1"/>
          <p:nvPr/>
        </p:nvSpPr>
        <p:spPr>
          <a:xfrm>
            <a:off x="4736592"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Students may have savings or sponsorship but still face a funding gap.</a:t>
            </a:r>
          </a:p>
        </p:txBody>
      </p:sp>
      <p:sp>
        <p:nvSpPr>
          <p:cNvPr id="15" name="Rounded Rectangle 14"/>
          <p:cNvSpPr/>
          <p:nvPr/>
        </p:nvSpPr>
        <p:spPr>
          <a:xfrm>
            <a:off x="8330183"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58784"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03</a:t>
            </a:r>
          </a:p>
        </p:txBody>
      </p:sp>
      <p:sp>
        <p:nvSpPr>
          <p:cNvPr id="17" name="TextBox 16"/>
          <p:cNvSpPr txBox="1"/>
          <p:nvPr/>
        </p:nvSpPr>
        <p:spPr>
          <a:xfrm>
            <a:off x="8558784"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Plans can change</a:t>
            </a:r>
          </a:p>
        </p:txBody>
      </p:sp>
      <p:sp>
        <p:nvSpPr>
          <p:cNvPr id="18" name="TextBox 17"/>
          <p:cNvSpPr txBox="1"/>
          <p:nvPr/>
        </p:nvSpPr>
        <p:spPr>
          <a:xfrm>
            <a:off x="8558784"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Unexpected expenses or higher living costs can make a fragile plan harder to sustain.</a:t>
            </a:r>
          </a:p>
        </p:txBody>
      </p:sp>
      <p:sp>
        <p:nvSpPr>
          <p:cNvPr id="19" name="TextBox 18"/>
          <p:cNvSpPr txBox="1"/>
          <p:nvPr/>
        </p:nvSpPr>
        <p:spPr>
          <a:xfrm>
            <a:off x="777240" y="4800600"/>
            <a:ext cx="182880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Opportunity</a:t>
            </a:r>
          </a:p>
        </p:txBody>
      </p:sp>
      <p:sp>
        <p:nvSpPr>
          <p:cNvPr id="20" name="TextBox 19"/>
          <p:cNvSpPr txBox="1"/>
          <p:nvPr/>
        </p:nvSpPr>
        <p:spPr>
          <a:xfrm>
            <a:off x="777240" y="5166360"/>
            <a:ext cx="9966960" cy="640080"/>
          </a:xfrm>
          <a:prstGeom prst="rect">
            <a:avLst/>
          </a:prstGeom>
          <a:noFill/>
        </p:spPr>
        <p:txBody>
          <a:bodyPr wrap="square" lIns="36576" tIns="36576" rIns="36576" bIns="36576" anchor="t">
            <a:spAutoFit/>
          </a:bodyPr>
          <a:lstStyle/>
          <a:p>
            <a:pPr algn="l">
              <a:spcAft>
                <a:spcPts val="0"/>
              </a:spcAft>
            </a:pPr>
            <a:r>
              <a:rPr sz="2200" b="1">
                <a:solidFill>
                  <a:srgbClr val="F5F8FC"/>
                </a:solidFill>
                <a:latin typeface="Aptos"/>
              </a:rPr>
              <a:t>Give students a simple way to test assumptions before they commit to a study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02 / OUR SOLUTION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One dashboard. Clearer financial decisions.</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EduWallet AI turns user-entered assumptions into a simple readiness picture.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03</a:t>
            </a:r>
          </a:p>
        </p:txBody>
      </p:sp>
      <p:sp>
        <p:nvSpPr>
          <p:cNvPr id="7" name="Rounded Rectangle 6"/>
          <p:cNvSpPr/>
          <p:nvPr/>
        </p:nvSpPr>
        <p:spPr>
          <a:xfrm>
            <a:off x="713232" y="1920240"/>
            <a:ext cx="516636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94560"/>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CORE WORKFLOW</a:t>
            </a:r>
          </a:p>
        </p:txBody>
      </p:sp>
      <p:sp>
        <p:nvSpPr>
          <p:cNvPr id="9" name="TextBox 8"/>
          <p:cNvSpPr txBox="1"/>
          <p:nvPr/>
        </p:nvSpPr>
        <p:spPr>
          <a:xfrm>
            <a:off x="960120" y="2697480"/>
            <a:ext cx="4480560" cy="24231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Enter tuition, setup costs and monthly living costs</a:t>
            </a:r>
          </a:p>
          <a:p>
            <a:pPr>
              <a:spcAft>
                <a:spcPts val="1100"/>
              </a:spcAft>
              <a:defRPr sz="1500">
                <a:solidFill>
                  <a:srgbClr val="F5F8FC"/>
                </a:solidFill>
                <a:latin typeface="Aptos"/>
              </a:defRPr>
            </a:pPr>
            <a:r>
              <a:t>•  Set the number of months and available funds</a:t>
            </a:r>
          </a:p>
          <a:p>
            <a:pPr>
              <a:spcAft>
                <a:spcPts val="1100"/>
              </a:spcAft>
              <a:defRPr sz="1500">
                <a:solidFill>
                  <a:srgbClr val="F5F8FC"/>
                </a:solidFill>
                <a:latin typeface="Aptos"/>
              </a:defRPr>
            </a:pPr>
            <a:r>
              <a:t>•  Review total estimated cost, funding gap and coverage</a:t>
            </a:r>
          </a:p>
          <a:p>
            <a:pPr>
              <a:spcAft>
                <a:spcPts val="1100"/>
              </a:spcAft>
              <a:defRPr sz="1500">
                <a:solidFill>
                  <a:srgbClr val="F5F8FC"/>
                </a:solidFill>
                <a:latin typeface="Aptos"/>
              </a:defRPr>
            </a:pPr>
            <a:r>
              <a:t>•  Stress-test the plan and download a report</a:t>
            </a:r>
          </a:p>
        </p:txBody>
      </p:sp>
      <p:sp>
        <p:nvSpPr>
          <p:cNvPr id="10" name="Rounded Rectangle 9"/>
          <p:cNvSpPr/>
          <p:nvPr/>
        </p:nvSpPr>
        <p:spPr>
          <a:xfrm>
            <a:off x="6199632" y="1920240"/>
            <a:ext cx="5257800" cy="3520440"/>
          </a:xfrm>
          <a:prstGeom prst="roundRect">
            <a:avLst/>
          </a:prstGeom>
          <a:solidFill>
            <a:srgbClr val="0B223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0528" y="2212848"/>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DESIGNED FOR</a:t>
            </a:r>
          </a:p>
        </p:txBody>
      </p:sp>
      <p:sp>
        <p:nvSpPr>
          <p:cNvPr id="12" name="TextBox 11"/>
          <p:cNvSpPr txBox="1"/>
          <p:nvPr/>
        </p:nvSpPr>
        <p:spPr>
          <a:xfrm>
            <a:off x="6473952" y="2743200"/>
            <a:ext cx="4434840" cy="214884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International students planning study expenses</a:t>
            </a:r>
          </a:p>
          <a:p>
            <a:pPr>
              <a:spcAft>
                <a:spcPts val="1100"/>
              </a:spcAft>
              <a:defRPr sz="1500">
                <a:solidFill>
                  <a:srgbClr val="F5F8FC"/>
                </a:solidFill>
                <a:latin typeface="Aptos"/>
              </a:defRPr>
            </a:pPr>
            <a:r>
              <a:t>•  Students comparing different budget assumptions</a:t>
            </a:r>
          </a:p>
          <a:p>
            <a:pPr>
              <a:spcAft>
                <a:spcPts val="1100"/>
              </a:spcAft>
              <a:defRPr sz="1500">
                <a:solidFill>
                  <a:srgbClr val="F5F8FC"/>
                </a:solidFill>
                <a:latin typeface="Aptos"/>
              </a:defRPr>
            </a:pPr>
            <a:r>
              <a:t>•  Users who want to explore shortfalls before making decisions</a:t>
            </a:r>
          </a:p>
        </p:txBody>
      </p:sp>
      <p:sp>
        <p:nvSpPr>
          <p:cNvPr id="13" name="TextBox 12"/>
          <p:cNvSpPr txBox="1"/>
          <p:nvPr/>
        </p:nvSpPr>
        <p:spPr>
          <a:xfrm>
            <a:off x="6492240" y="5001768"/>
            <a:ext cx="4480560" cy="274320"/>
          </a:xfrm>
          <a:prstGeom prst="rect">
            <a:avLst/>
          </a:prstGeom>
          <a:noFill/>
        </p:spPr>
        <p:txBody>
          <a:bodyPr wrap="square" lIns="36576" tIns="36576" rIns="36576" bIns="36576" anchor="t">
            <a:spAutoFit/>
          </a:bodyPr>
          <a:lstStyle/>
          <a:p>
            <a:pPr algn="l">
              <a:spcAft>
                <a:spcPts val="0"/>
              </a:spcAft>
            </a:pPr>
            <a:r>
              <a:rPr sz="1000" b="1">
                <a:solidFill>
                  <a:srgbClr val="FBBF24"/>
                </a:solidFill>
                <a:latin typeface="Aptos"/>
              </a:rPr>
              <a:t>Not a bank, lender, visa adviser or eligibility checker.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03 / PRODUCT FEATURES</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Built around practical planning tools</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A functional prototype with calculation logic, scenarios and a downloadable report.</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04</a:t>
            </a:r>
          </a:p>
        </p:txBody>
      </p:sp>
      <p:sp>
        <p:nvSpPr>
          <p:cNvPr id="7" name="Rounded Rectangle 6"/>
          <p:cNvSpPr/>
          <p:nvPr/>
        </p:nvSpPr>
        <p:spPr>
          <a:xfrm>
            <a:off x="713232"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01</a:t>
            </a:r>
          </a:p>
        </p:txBody>
      </p:sp>
      <p:sp>
        <p:nvSpPr>
          <p:cNvPr id="9" name="TextBox 8"/>
          <p:cNvSpPr txBox="1"/>
          <p:nvPr/>
        </p:nvSpPr>
        <p:spPr>
          <a:xfrm>
            <a:off x="877824"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Study budget calculator</a:t>
            </a:r>
          </a:p>
        </p:txBody>
      </p:sp>
      <p:sp>
        <p:nvSpPr>
          <p:cNvPr id="10" name="TextBox 9"/>
          <p:cNvSpPr txBox="1"/>
          <p:nvPr/>
        </p:nvSpPr>
        <p:spPr>
          <a:xfrm>
            <a:off x="877824"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Estimate total study-period costs from tuition, one-off costs and monthly living expenses.</a:t>
            </a:r>
          </a:p>
        </p:txBody>
      </p:sp>
      <p:sp>
        <p:nvSpPr>
          <p:cNvPr id="11" name="Rounded Rectangle 10"/>
          <p:cNvSpPr/>
          <p:nvPr/>
        </p:nvSpPr>
        <p:spPr>
          <a:xfrm>
            <a:off x="4535424"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00016"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02</a:t>
            </a:r>
          </a:p>
        </p:txBody>
      </p:sp>
      <p:sp>
        <p:nvSpPr>
          <p:cNvPr id="13" name="TextBox 12"/>
          <p:cNvSpPr txBox="1"/>
          <p:nvPr/>
        </p:nvSpPr>
        <p:spPr>
          <a:xfrm>
            <a:off x="4700016"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Funding gap &amp; coverage</a:t>
            </a:r>
          </a:p>
        </p:txBody>
      </p:sp>
      <p:sp>
        <p:nvSpPr>
          <p:cNvPr id="14" name="TextBox 13"/>
          <p:cNvSpPr txBox="1"/>
          <p:nvPr/>
        </p:nvSpPr>
        <p:spPr>
          <a:xfrm>
            <a:off x="4700016"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Compare estimated costs with funds entered by the user.</a:t>
            </a:r>
          </a:p>
        </p:txBody>
      </p:sp>
      <p:sp>
        <p:nvSpPr>
          <p:cNvPr id="15" name="Rounded Rectangle 14"/>
          <p:cNvSpPr/>
          <p:nvPr/>
        </p:nvSpPr>
        <p:spPr>
          <a:xfrm>
            <a:off x="8357615"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22207"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03</a:t>
            </a:r>
          </a:p>
        </p:txBody>
      </p:sp>
      <p:sp>
        <p:nvSpPr>
          <p:cNvPr id="17" name="TextBox 16"/>
          <p:cNvSpPr txBox="1"/>
          <p:nvPr/>
        </p:nvSpPr>
        <p:spPr>
          <a:xfrm>
            <a:off x="8522207"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Stress test</a:t>
            </a:r>
          </a:p>
        </p:txBody>
      </p:sp>
      <p:sp>
        <p:nvSpPr>
          <p:cNvPr id="18" name="TextBox 17"/>
          <p:cNvSpPr txBox="1"/>
          <p:nvPr/>
        </p:nvSpPr>
        <p:spPr>
          <a:xfrm>
            <a:off x="8522207"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Explore cost increases, cost shocks and reduced support.</a:t>
            </a:r>
          </a:p>
        </p:txBody>
      </p:sp>
      <p:sp>
        <p:nvSpPr>
          <p:cNvPr id="19" name="Rounded Rectangle 18"/>
          <p:cNvSpPr/>
          <p:nvPr/>
        </p:nvSpPr>
        <p:spPr>
          <a:xfrm>
            <a:off x="713232"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77824"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04</a:t>
            </a:r>
          </a:p>
        </p:txBody>
      </p:sp>
      <p:sp>
        <p:nvSpPr>
          <p:cNvPr id="21" name="TextBox 20"/>
          <p:cNvSpPr txBox="1"/>
          <p:nvPr/>
        </p:nvSpPr>
        <p:spPr>
          <a:xfrm>
            <a:off x="877824"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What-If Life Simulator</a:t>
            </a:r>
          </a:p>
        </p:txBody>
      </p:sp>
      <p:sp>
        <p:nvSpPr>
          <p:cNvPr id="22" name="TextBox 21"/>
          <p:cNvSpPr txBox="1"/>
          <p:nvPr/>
        </p:nvSpPr>
        <p:spPr>
          <a:xfrm>
            <a:off x="877824"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Change monthly living costs and add an unexpected expense.</a:t>
            </a:r>
          </a:p>
        </p:txBody>
      </p:sp>
      <p:sp>
        <p:nvSpPr>
          <p:cNvPr id="23" name="Rounded Rectangle 22"/>
          <p:cNvSpPr/>
          <p:nvPr/>
        </p:nvSpPr>
        <p:spPr>
          <a:xfrm>
            <a:off x="4535424"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700016"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05</a:t>
            </a:r>
          </a:p>
        </p:txBody>
      </p:sp>
      <p:sp>
        <p:nvSpPr>
          <p:cNvPr id="25" name="TextBox 24"/>
          <p:cNvSpPr txBox="1"/>
          <p:nvPr/>
        </p:nvSpPr>
        <p:spPr>
          <a:xfrm>
            <a:off x="4700016"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Survival Mode</a:t>
            </a:r>
          </a:p>
        </p:txBody>
      </p:sp>
      <p:sp>
        <p:nvSpPr>
          <p:cNvPr id="26" name="TextBox 25"/>
          <p:cNvSpPr txBox="1"/>
          <p:nvPr/>
        </p:nvSpPr>
        <p:spPr>
          <a:xfrm>
            <a:off x="4700016"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Model higher costs, an emergency expense and funds becoming unavailable.</a:t>
            </a:r>
          </a:p>
        </p:txBody>
      </p:sp>
      <p:sp>
        <p:nvSpPr>
          <p:cNvPr id="27" name="Rounded Rectangle 26"/>
          <p:cNvSpPr/>
          <p:nvPr/>
        </p:nvSpPr>
        <p:spPr>
          <a:xfrm>
            <a:off x="8357615"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22207"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06</a:t>
            </a:r>
          </a:p>
        </p:txBody>
      </p:sp>
      <p:sp>
        <p:nvSpPr>
          <p:cNvPr id="29" name="TextBox 28"/>
          <p:cNvSpPr txBox="1"/>
          <p:nvPr/>
        </p:nvSpPr>
        <p:spPr>
          <a:xfrm>
            <a:off x="8522207"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Report &amp; currency estimate</a:t>
            </a:r>
          </a:p>
        </p:txBody>
      </p:sp>
      <p:sp>
        <p:nvSpPr>
          <p:cNvPr id="30" name="TextBox 29"/>
          <p:cNvSpPr txBox="1"/>
          <p:nvPr/>
        </p:nvSpPr>
        <p:spPr>
          <a:xfrm>
            <a:off x="8522207"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Download a planning report and use an illustrative, manually entered BDT conversion rate.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04 / PROTOTYPE EVIDENCE</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The main financial dashboard</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Example screenshot supplied from the working EduWallet AI prototype.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05</a:t>
            </a:r>
          </a:p>
        </p:txBody>
      </p:sp>
      <p:sp>
        <p:nvSpPr>
          <p:cNvPr id="7" name="Rounded Rectangle 6"/>
          <p:cNvSpPr/>
          <p:nvPr/>
        </p:nvSpPr>
        <p:spPr>
          <a:xfrm>
            <a:off x="658368" y="1783080"/>
            <a:ext cx="10881360" cy="43434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6236208"/>
            <a:ext cx="10515600" cy="201168"/>
          </a:xfrm>
          <a:prstGeom prst="rect">
            <a:avLst/>
          </a:prstGeom>
          <a:noFill/>
        </p:spPr>
        <p:txBody>
          <a:bodyPr wrap="square" lIns="36576" tIns="36576" rIns="36576" bIns="36576" anchor="t">
            <a:spAutoFit/>
          </a:bodyPr>
          <a:lstStyle/>
          <a:p>
            <a:pPr algn="l">
              <a:spcAft>
                <a:spcPts val="0"/>
              </a:spcAft>
            </a:pPr>
            <a:r>
              <a:rPr sz="900" b="0">
                <a:solidFill>
                  <a:srgbClr val="B1BECF"/>
                </a:solidFill>
                <a:latin typeface="Aptos"/>
              </a:rPr>
              <a:t>Example values shown are illustrative and can be changed by the user.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05 / INTERACTIVE SCENARIO</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What-If Life Simulator</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Show how a different lifestyle budget or an unexpected cost changes the plan.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06</a:t>
            </a:r>
          </a:p>
        </p:txBody>
      </p:sp>
      <p:sp>
        <p:nvSpPr>
          <p:cNvPr id="7" name="Rounded Rectangle 6"/>
          <p:cNvSpPr/>
          <p:nvPr/>
        </p:nvSpPr>
        <p:spPr>
          <a:xfrm>
            <a:off x="685800" y="1828800"/>
            <a:ext cx="6903720" cy="41148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909560" y="1828800"/>
            <a:ext cx="3566160" cy="411480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83879" y="2148840"/>
            <a:ext cx="2926080" cy="256032"/>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WHAT THIS SHOWS</a:t>
            </a:r>
          </a:p>
        </p:txBody>
      </p:sp>
      <p:sp>
        <p:nvSpPr>
          <p:cNvPr id="14" name="TextBox 13"/>
          <p:cNvSpPr txBox="1"/>
          <p:nvPr/>
        </p:nvSpPr>
        <p:spPr>
          <a:xfrm>
            <a:off x="8138160" y="2651760"/>
            <a:ext cx="2834640" cy="237744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Adjust monthly living costs</a:t>
            </a:r>
          </a:p>
          <a:p>
            <a:pPr>
              <a:spcAft>
                <a:spcPts val="1100"/>
              </a:spcAft>
              <a:defRPr sz="1300">
                <a:solidFill>
                  <a:srgbClr val="F5F8FC"/>
                </a:solidFill>
                <a:latin typeface="Aptos"/>
              </a:defRPr>
            </a:pPr>
            <a:r>
              <a:t>•  Add an unexpected one-off expense</a:t>
            </a:r>
          </a:p>
          <a:p>
            <a:pPr>
              <a:spcAft>
                <a:spcPts val="1100"/>
              </a:spcAft>
              <a:defRPr sz="1300">
                <a:solidFill>
                  <a:srgbClr val="F5F8FC"/>
                </a:solidFill>
                <a:latin typeface="Aptos"/>
              </a:defRPr>
            </a:pPr>
            <a:r>
              <a:t>•  Compare total cost with baseline</a:t>
            </a:r>
          </a:p>
          <a:p>
            <a:pPr>
              <a:spcAft>
                <a:spcPts val="1100"/>
              </a:spcAft>
              <a:defRPr sz="1300">
                <a:solidFill>
                  <a:srgbClr val="F5F8FC"/>
                </a:solidFill>
                <a:latin typeface="Aptos"/>
              </a:defRPr>
            </a:pPr>
            <a:r>
              <a:t>•  Review funding gap and cost coverage</a:t>
            </a:r>
          </a:p>
        </p:txBody>
      </p:sp>
      <p:sp>
        <p:nvSpPr>
          <p:cNvPr id="15" name="TextBox 14"/>
          <p:cNvSpPr txBox="1"/>
          <p:nvPr/>
        </p:nvSpPr>
        <p:spPr>
          <a:xfrm>
            <a:off x="8183879" y="5394960"/>
            <a:ext cx="2788920" cy="320040"/>
          </a:xfrm>
          <a:prstGeom prst="rect">
            <a:avLst/>
          </a:prstGeom>
          <a:noFill/>
        </p:spPr>
        <p:txBody>
          <a:bodyPr wrap="square" lIns="36576" tIns="36576" rIns="36576" bIns="36576" anchor="t">
            <a:spAutoFit/>
          </a:bodyPr>
          <a:lstStyle/>
          <a:p>
            <a:pPr algn="l">
              <a:spcAft>
                <a:spcPts val="0"/>
              </a:spcAft>
            </a:pPr>
            <a:r>
              <a:rPr sz="900" b="1">
                <a:solidFill>
                  <a:srgbClr val="FBBF24"/>
                </a:solidFill>
                <a:latin typeface="Aptos"/>
              </a:rPr>
              <a:t>Scenario outputs are estimates, not predictions.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3929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06 / RESILIENCE SCENARIO</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Survival Mode</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Explore what happens when costs rise and some funds are unavailable.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07</a:t>
            </a:r>
          </a:p>
        </p:txBody>
      </p:sp>
      <p:sp>
        <p:nvSpPr>
          <p:cNvPr id="7" name="Rounded Rectangle 6"/>
          <p:cNvSpPr/>
          <p:nvPr/>
        </p:nvSpPr>
        <p:spPr>
          <a:xfrm>
            <a:off x="685800" y="1828800"/>
            <a:ext cx="6903720" cy="41148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909560" y="1828800"/>
            <a:ext cx="3566160" cy="411480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83879" y="2148840"/>
            <a:ext cx="2926080" cy="256032"/>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WHAT THIS SHOWS</a:t>
            </a:r>
          </a:p>
        </p:txBody>
      </p:sp>
      <p:sp>
        <p:nvSpPr>
          <p:cNvPr id="14" name="TextBox 13"/>
          <p:cNvSpPr txBox="1"/>
          <p:nvPr/>
        </p:nvSpPr>
        <p:spPr>
          <a:xfrm>
            <a:off x="8138160" y="2651760"/>
            <a:ext cx="2834640" cy="237744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Higher monthly living costs</a:t>
            </a:r>
          </a:p>
          <a:p>
            <a:pPr>
              <a:spcAft>
                <a:spcPts val="1100"/>
              </a:spcAft>
              <a:defRPr sz="1300">
                <a:solidFill>
                  <a:srgbClr val="F5F8FC"/>
                </a:solidFill>
                <a:latin typeface="Aptos"/>
              </a:defRPr>
            </a:pPr>
            <a:r>
              <a:t>•  A hypothetical emergency expense</a:t>
            </a:r>
          </a:p>
          <a:p>
            <a:pPr>
              <a:spcAft>
                <a:spcPts val="1100"/>
              </a:spcAft>
              <a:defRPr sz="1300">
                <a:solidFill>
                  <a:srgbClr val="F5F8FC"/>
                </a:solidFill>
                <a:latin typeface="Aptos"/>
              </a:defRPr>
            </a:pPr>
            <a:r>
              <a:t>•  Reduced available funds</a:t>
            </a:r>
          </a:p>
          <a:p>
            <a:pPr>
              <a:spcAft>
                <a:spcPts val="1100"/>
              </a:spcAft>
              <a:defRPr sz="1300">
                <a:solidFill>
                  <a:srgbClr val="F5F8FC"/>
                </a:solidFill>
                <a:latin typeface="Aptos"/>
              </a:defRPr>
            </a:pPr>
            <a:r>
              <a:t>•  Updated shortfall and coverage</a:t>
            </a:r>
          </a:p>
        </p:txBody>
      </p:sp>
      <p:sp>
        <p:nvSpPr>
          <p:cNvPr id="15" name="TextBox 14"/>
          <p:cNvSpPr txBox="1"/>
          <p:nvPr/>
        </p:nvSpPr>
        <p:spPr>
          <a:xfrm>
            <a:off x="8183879" y="5394960"/>
            <a:ext cx="2788920" cy="320040"/>
          </a:xfrm>
          <a:prstGeom prst="rect">
            <a:avLst/>
          </a:prstGeom>
          <a:noFill/>
        </p:spPr>
        <p:txBody>
          <a:bodyPr wrap="square" lIns="36576" tIns="36576" rIns="36576" bIns="36576" anchor="t">
            <a:spAutoFit/>
          </a:bodyPr>
          <a:lstStyle/>
          <a:p>
            <a:pPr algn="l">
              <a:spcAft>
                <a:spcPts val="0"/>
              </a:spcAft>
            </a:pPr>
            <a:r>
              <a:rPr sz="900" b="1">
                <a:solidFill>
                  <a:srgbClr val="FBBF24"/>
                </a:solidFill>
                <a:latin typeface="Aptos"/>
              </a:rPr>
              <a:t>This is a stress scenario, not a forecast.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07 / VERIFICATION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Automated tests: 21 passed</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Evidence from the Python test suite supplied for this presentation.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08</a:t>
            </a:r>
          </a:p>
        </p:txBody>
      </p:sp>
      <p:sp>
        <p:nvSpPr>
          <p:cNvPr id="7" name="Rounded Rectangle 6"/>
          <p:cNvSpPr/>
          <p:nvPr/>
        </p:nvSpPr>
        <p:spPr>
          <a:xfrm>
            <a:off x="7498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4ADE80"/>
                </a:solidFill>
                <a:latin typeface="Aptos"/>
              </a:rPr>
              <a:t>21 / 21</a:t>
            </a:r>
          </a:p>
        </p:txBody>
      </p:sp>
      <p:sp>
        <p:nvSpPr>
          <p:cNvPr id="9" name="TextBox 8"/>
          <p:cNvSpPr txBox="1"/>
          <p:nvPr/>
        </p:nvSpPr>
        <p:spPr>
          <a:xfrm>
            <a:off x="8869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TESTS PASSED</a:t>
            </a:r>
          </a:p>
        </p:txBody>
      </p:sp>
      <p:sp>
        <p:nvSpPr>
          <p:cNvPr id="10" name="Rounded Rectangle 9"/>
          <p:cNvSpPr/>
          <p:nvPr/>
        </p:nvSpPr>
        <p:spPr>
          <a:xfrm>
            <a:off x="44074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445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2DD4BF"/>
                </a:solidFill>
                <a:latin typeface="Aptos"/>
              </a:rPr>
              <a:t>0.08 s</a:t>
            </a:r>
          </a:p>
        </p:txBody>
      </p:sp>
      <p:sp>
        <p:nvSpPr>
          <p:cNvPr id="12" name="TextBox 11"/>
          <p:cNvSpPr txBox="1"/>
          <p:nvPr/>
        </p:nvSpPr>
        <p:spPr>
          <a:xfrm>
            <a:off x="45445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REPORTED RUNTIME</a:t>
            </a:r>
          </a:p>
        </p:txBody>
      </p:sp>
      <p:sp>
        <p:nvSpPr>
          <p:cNvPr id="13" name="Rounded Rectangle 12"/>
          <p:cNvSpPr/>
          <p:nvPr/>
        </p:nvSpPr>
        <p:spPr>
          <a:xfrm>
            <a:off x="80650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021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F5F8FC"/>
                </a:solidFill>
                <a:latin typeface="Aptos"/>
              </a:rPr>
              <a:t>2 AREAS</a:t>
            </a:r>
          </a:p>
        </p:txBody>
      </p:sp>
      <p:sp>
        <p:nvSpPr>
          <p:cNvPr id="15" name="TextBox 14"/>
          <p:cNvSpPr txBox="1"/>
          <p:nvPr/>
        </p:nvSpPr>
        <p:spPr>
          <a:xfrm>
            <a:off x="82021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CALCULATIONS + REPORTING</a:t>
            </a:r>
          </a:p>
        </p:txBody>
      </p:sp>
      <p:sp>
        <p:nvSpPr>
          <p:cNvPr id="16" name="Rounded Rectangle 15"/>
          <p:cNvSpPr/>
          <p:nvPr/>
        </p:nvSpPr>
        <p:spPr>
          <a:xfrm>
            <a:off x="658368" y="2715287"/>
            <a:ext cx="10881360" cy="324612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6199632"/>
            <a:ext cx="10515600" cy="228600"/>
          </a:xfrm>
          <a:prstGeom prst="rect">
            <a:avLst/>
          </a:prstGeom>
          <a:noFill/>
        </p:spPr>
        <p:txBody>
          <a:bodyPr wrap="square" lIns="36576" tIns="36576" rIns="36576" bIns="36576" anchor="t">
            <a:spAutoFit/>
          </a:bodyPr>
          <a:lstStyle/>
          <a:p>
            <a:pPr algn="l">
              <a:spcAft>
                <a:spcPts val="0"/>
              </a:spcAft>
            </a:pPr>
            <a:r>
              <a:rPr sz="1000" b="1">
                <a:solidFill>
                  <a:srgbClr val="FBBF24"/>
                </a:solidFill>
                <a:latin typeface="Aptos"/>
              </a:rPr>
              <a:t>Functional testing is not an independent security audit.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08 / IMPLEMENTATION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Simple, testable and transparent</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The prototype prioritizes understandable calculations and explicit limitations.</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09</a:t>
            </a:r>
          </a:p>
        </p:txBody>
      </p:sp>
      <p:sp>
        <p:nvSpPr>
          <p:cNvPr id="7" name="Rounded Rectangle 6"/>
          <p:cNvSpPr/>
          <p:nvPr/>
        </p:nvSpPr>
        <p:spPr>
          <a:xfrm>
            <a:off x="713232" y="1901952"/>
            <a:ext cx="507492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76272"/>
            <a:ext cx="429768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TECH STACK</a:t>
            </a:r>
          </a:p>
        </p:txBody>
      </p:sp>
      <p:sp>
        <p:nvSpPr>
          <p:cNvPr id="9" name="TextBox 8"/>
          <p:cNvSpPr txBox="1"/>
          <p:nvPr/>
        </p:nvSpPr>
        <p:spPr>
          <a:xfrm>
            <a:off x="960120" y="2651760"/>
            <a:ext cx="4389120" cy="21945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Python for financial calculation logic</a:t>
            </a:r>
          </a:p>
          <a:p>
            <a:pPr>
              <a:spcAft>
                <a:spcPts val="1100"/>
              </a:spcAft>
              <a:defRPr sz="1500">
                <a:solidFill>
                  <a:srgbClr val="F5F8FC"/>
                </a:solidFill>
                <a:latin typeface="Aptos"/>
              </a:defRPr>
            </a:pPr>
            <a:r>
              <a:t>•  Streamlit for the interactive web interface</a:t>
            </a:r>
          </a:p>
          <a:p>
            <a:pPr>
              <a:spcAft>
                <a:spcPts val="1100"/>
              </a:spcAft>
              <a:defRPr sz="1500">
                <a:solidFill>
                  <a:srgbClr val="F5F8FC"/>
                </a:solidFill>
                <a:latin typeface="Aptos"/>
              </a:defRPr>
            </a:pPr>
            <a:r>
              <a:t>•  Pytest for automated tests</a:t>
            </a:r>
          </a:p>
          <a:p>
            <a:pPr>
              <a:spcAft>
                <a:spcPts val="1100"/>
              </a:spcAft>
              <a:defRPr sz="1500">
                <a:solidFill>
                  <a:srgbClr val="F5F8FC"/>
                </a:solidFill>
                <a:latin typeface="Aptos"/>
              </a:defRPr>
            </a:pPr>
            <a:r>
              <a:t>•  Downloadable text-based financial report</a:t>
            </a:r>
          </a:p>
        </p:txBody>
      </p:sp>
      <p:sp>
        <p:nvSpPr>
          <p:cNvPr id="10" name="Rounded Rectangle 9"/>
          <p:cNvSpPr/>
          <p:nvPr/>
        </p:nvSpPr>
        <p:spPr>
          <a:xfrm>
            <a:off x="6199632" y="1901952"/>
            <a:ext cx="525780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176272"/>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DESIGN PRINCIPLES</a:t>
            </a:r>
          </a:p>
        </p:txBody>
      </p:sp>
      <p:sp>
        <p:nvSpPr>
          <p:cNvPr id="12" name="TextBox 11"/>
          <p:cNvSpPr txBox="1"/>
          <p:nvPr/>
        </p:nvSpPr>
        <p:spPr>
          <a:xfrm>
            <a:off x="6455664" y="2651760"/>
            <a:ext cx="4480560" cy="21945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User-entered assumptions are visible</a:t>
            </a:r>
          </a:p>
          <a:p>
            <a:pPr>
              <a:spcAft>
                <a:spcPts val="1100"/>
              </a:spcAft>
              <a:defRPr sz="1500">
                <a:solidFill>
                  <a:srgbClr val="F5F8FC"/>
                </a:solidFill>
                <a:latin typeface="Aptos"/>
              </a:defRPr>
            </a:pPr>
            <a:r>
              <a:t>•  Input validation protects calculation functions</a:t>
            </a:r>
          </a:p>
          <a:p>
            <a:pPr>
              <a:spcAft>
                <a:spcPts val="1100"/>
              </a:spcAft>
              <a:defRPr sz="1500">
                <a:solidFill>
                  <a:srgbClr val="F5F8FC"/>
                </a:solidFill>
                <a:latin typeface="Aptos"/>
              </a:defRPr>
            </a:pPr>
            <a:r>
              <a:t>•  No live bank integrations or payments</a:t>
            </a:r>
          </a:p>
          <a:p>
            <a:pPr>
              <a:spcAft>
                <a:spcPts val="1100"/>
              </a:spcAft>
              <a:defRPr sz="1500">
                <a:solidFill>
                  <a:srgbClr val="F5F8FC"/>
                </a:solidFill>
                <a:latin typeface="Aptos"/>
              </a:defRPr>
            </a:pPr>
            <a:r>
              <a:t>•  Manual currency rate; not a live exchange feed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09 / RESPONSIBLE USE</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Clear boundaries build trust</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EduWallet AI is an educational planning prototype—not a source of official financial decisions.</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10</a:t>
            </a:r>
          </a:p>
        </p:txBody>
      </p:sp>
      <p:sp>
        <p:nvSpPr>
          <p:cNvPr id="7" name="Rounded Rectangle 6"/>
          <p:cNvSpPr/>
          <p:nvPr/>
        </p:nvSpPr>
        <p:spPr>
          <a:xfrm>
            <a:off x="713232" y="1874519"/>
            <a:ext cx="10716768" cy="3611880"/>
          </a:xfrm>
          <a:prstGeom prst="roundRect">
            <a:avLst/>
          </a:prstGeom>
          <a:solidFill>
            <a:srgbClr val="181F2B"/>
          </a:solidFill>
          <a:ln w="12700">
            <a:solidFill>
              <a:srgbClr val="715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76272"/>
            <a:ext cx="9966960" cy="288036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Results depend on the figures and assumptions entered by the user.</a:t>
            </a:r>
          </a:p>
          <a:p>
            <a:pPr>
              <a:spcAft>
                <a:spcPts val="1100"/>
              </a:spcAft>
              <a:defRPr sz="1300">
                <a:solidFill>
                  <a:srgbClr val="F5F8FC"/>
                </a:solidFill>
                <a:latin typeface="Aptos"/>
              </a:defRPr>
            </a:pPr>
            <a:r>
              <a:t>•  Currency conversion is illustrative and uses a manually entered rate.</a:t>
            </a:r>
          </a:p>
          <a:p>
            <a:pPr>
              <a:spcAft>
                <a:spcPts val="1100"/>
              </a:spcAft>
              <a:defRPr sz="1300">
                <a:solidFill>
                  <a:srgbClr val="F5F8FC"/>
                </a:solidFill>
                <a:latin typeface="Aptos"/>
              </a:defRPr>
            </a:pPr>
            <a:r>
              <a:t>•  The prototype does not connect to banks, verify balances, or execute payments.</a:t>
            </a:r>
          </a:p>
          <a:p>
            <a:pPr>
              <a:spcAft>
                <a:spcPts val="1100"/>
              </a:spcAft>
              <a:defRPr sz="1300">
                <a:solidFill>
                  <a:srgbClr val="F5F8FC"/>
                </a:solidFill>
                <a:latin typeface="Aptos"/>
              </a:defRPr>
            </a:pPr>
            <a:r>
              <a:t>•  It does not provide financial, immigration or visa advice.</a:t>
            </a:r>
          </a:p>
          <a:p>
            <a:pPr>
              <a:spcAft>
                <a:spcPts val="1100"/>
              </a:spcAft>
              <a:defRPr sz="1300">
                <a:solidFill>
                  <a:srgbClr val="F5F8FC"/>
                </a:solidFill>
                <a:latin typeface="Aptos"/>
              </a:defRPr>
            </a:pPr>
            <a:r>
              <a:t>•  The prototype has no user authentication, role-based access or persistent financial profiles.</a:t>
            </a:r>
          </a:p>
          <a:p>
            <a:pPr>
              <a:spcAft>
                <a:spcPts val="1100"/>
              </a:spcAft>
              <a:defRPr sz="1300">
                <a:solidFill>
                  <a:srgbClr val="F5F8FC"/>
                </a:solidFill>
                <a:latin typeface="Aptos"/>
              </a:defRPr>
            </a:pPr>
            <a:r>
              <a:t>•  Automated tests verify selected functionality; they do not replace an independent security assessment.</a:t>
            </a:r>
          </a:p>
        </p:txBody>
      </p:sp>
      <p:sp>
        <p:nvSpPr>
          <p:cNvPr id="9" name="TextBox 8"/>
          <p:cNvSpPr txBox="1"/>
          <p:nvPr/>
        </p:nvSpPr>
        <p:spPr>
          <a:xfrm>
            <a:off x="868680" y="5715000"/>
            <a:ext cx="10424160" cy="411480"/>
          </a:xfrm>
          <a:prstGeom prst="rect">
            <a:avLst/>
          </a:prstGeom>
          <a:noFill/>
        </p:spPr>
        <p:txBody>
          <a:bodyPr wrap="square" lIns="36576" tIns="36576" rIns="36576" bIns="36576" anchor="t">
            <a:spAutoFit/>
          </a:bodyPr>
          <a:lstStyle/>
          <a:p>
            <a:pPr algn="l">
              <a:spcAft>
                <a:spcPts val="0"/>
              </a:spcAft>
            </a:pPr>
            <a:r>
              <a:rPr sz="1500" b="1">
                <a:solidFill>
                  <a:srgbClr val="99F6E4"/>
                </a:solidFill>
                <a:latin typeface="Aptos"/>
              </a:rPr>
              <a:t>Use it to explore scenarios and ask better questions—not as a guarantee of affordability.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10 / TEAM</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dirty="0">
                <a:solidFill>
                  <a:srgbClr val="F5F8FC"/>
                </a:solidFill>
                <a:latin typeface="Aptos"/>
              </a:rPr>
              <a:t>The people behind EduWallet AI</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11</a:t>
            </a:r>
          </a:p>
        </p:txBody>
      </p:sp>
      <p:sp>
        <p:nvSpPr>
          <p:cNvPr id="7" name="Rounded Rectangle 6"/>
          <p:cNvSpPr/>
          <p:nvPr/>
        </p:nvSpPr>
        <p:spPr>
          <a:xfrm>
            <a:off x="713232"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535424"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357615"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829559" y="1874519"/>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829559" y="1874519"/>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94151" y="1984248"/>
            <a:ext cx="3017520" cy="201168"/>
          </a:xfrm>
          <a:prstGeom prst="rect">
            <a:avLst/>
          </a:prstGeom>
          <a:noFill/>
        </p:spPr>
        <p:txBody>
          <a:bodyPr wrap="square" tIns="36576" bIns="18288">
            <a:spAutoFit/>
          </a:bodyPr>
          <a:lstStyle/>
          <a:p>
            <a:pPr algn="l"/>
            <a:r>
              <a:rPr sz="900" b="1">
                <a:solidFill>
                  <a:srgbClr val="27D3BE"/>
                </a:solidFill>
                <a:latin typeface="Aptos"/>
              </a:rPr>
              <a:t>TEAM MEMBER 01</a:t>
            </a:r>
          </a:p>
        </p:txBody>
      </p:sp>
      <p:sp>
        <p:nvSpPr>
          <p:cNvPr id="21" name="TextBox 20"/>
          <p:cNvSpPr txBox="1"/>
          <p:nvPr/>
        </p:nvSpPr>
        <p:spPr>
          <a:xfrm>
            <a:off x="2994151" y="2221991"/>
            <a:ext cx="3017520" cy="286232"/>
          </a:xfrm>
          <a:prstGeom prst="rect">
            <a:avLst/>
          </a:prstGeom>
          <a:noFill/>
        </p:spPr>
        <p:txBody>
          <a:bodyPr wrap="square" tIns="36576" bIns="18288">
            <a:spAutoFit/>
          </a:bodyPr>
          <a:lstStyle/>
          <a:p>
            <a:pPr algn="l"/>
            <a:r>
              <a:rPr lang="en-US" sz="1500" b="1" dirty="0">
                <a:solidFill>
                  <a:srgbClr val="F5F8FC"/>
                </a:solidFill>
                <a:latin typeface="Aptos"/>
              </a:rPr>
              <a:t>Tamim Ahmed Tonmoy</a:t>
            </a:r>
            <a:endParaRPr sz="1500" b="1" dirty="0">
              <a:solidFill>
                <a:srgbClr val="F5F8FC"/>
              </a:solidFill>
              <a:latin typeface="Aptos"/>
            </a:endParaRPr>
          </a:p>
        </p:txBody>
      </p:sp>
      <p:sp>
        <p:nvSpPr>
          <p:cNvPr id="22" name="TextBox 21"/>
          <p:cNvSpPr txBox="1"/>
          <p:nvPr/>
        </p:nvSpPr>
        <p:spPr>
          <a:xfrm>
            <a:off x="2994151" y="2569463"/>
            <a:ext cx="3017520" cy="237744"/>
          </a:xfrm>
          <a:prstGeom prst="rect">
            <a:avLst/>
          </a:prstGeom>
          <a:noFill/>
        </p:spPr>
        <p:txBody>
          <a:bodyPr wrap="square" tIns="36576" bIns="18288">
            <a:spAutoFit/>
          </a:bodyPr>
          <a:lstStyle/>
          <a:p>
            <a:pPr algn="l"/>
            <a:r>
              <a:rPr sz="1000" b="1" dirty="0">
                <a:solidFill>
                  <a:srgbClr val="9D7EFF"/>
                </a:solidFill>
                <a:latin typeface="Aptos"/>
              </a:rPr>
              <a:t>Technical Developer</a:t>
            </a:r>
          </a:p>
        </p:txBody>
      </p:sp>
      <p:sp>
        <p:nvSpPr>
          <p:cNvPr id="23" name="TextBox 22"/>
          <p:cNvSpPr txBox="1"/>
          <p:nvPr/>
        </p:nvSpPr>
        <p:spPr>
          <a:xfrm>
            <a:off x="2994151" y="2862072"/>
            <a:ext cx="3017520" cy="475488"/>
          </a:xfrm>
          <a:prstGeom prst="rect">
            <a:avLst/>
          </a:prstGeom>
          <a:noFill/>
        </p:spPr>
        <p:txBody>
          <a:bodyPr wrap="square" tIns="36576" bIns="18288">
            <a:spAutoFit/>
          </a:bodyPr>
          <a:lstStyle/>
          <a:p>
            <a:pPr algn="l"/>
            <a:r>
              <a:rPr sz="900" b="0">
                <a:solidFill>
                  <a:srgbClr val="B0BED1"/>
                </a:solidFill>
                <a:latin typeface="Aptos"/>
              </a:rPr>
              <a:t>Prototype, financial logic, testing and integration.</a:t>
            </a:r>
          </a:p>
        </p:txBody>
      </p:sp>
      <p:sp>
        <p:nvSpPr>
          <p:cNvPr id="30" name="Rounded Rectangle 29"/>
          <p:cNvSpPr/>
          <p:nvPr/>
        </p:nvSpPr>
        <p:spPr>
          <a:xfrm>
            <a:off x="6366482" y="3865335"/>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366482" y="3865335"/>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31074" y="3975064"/>
            <a:ext cx="3017520" cy="201168"/>
          </a:xfrm>
          <a:prstGeom prst="rect">
            <a:avLst/>
          </a:prstGeom>
          <a:noFill/>
        </p:spPr>
        <p:txBody>
          <a:bodyPr wrap="square" tIns="36576" bIns="18288">
            <a:spAutoFit/>
          </a:bodyPr>
          <a:lstStyle/>
          <a:p>
            <a:pPr algn="l"/>
            <a:r>
              <a:rPr sz="900" b="1">
                <a:solidFill>
                  <a:srgbClr val="27D3BE"/>
                </a:solidFill>
                <a:latin typeface="Aptos"/>
              </a:rPr>
              <a:t>TEAM MEMBER 03</a:t>
            </a:r>
          </a:p>
        </p:txBody>
      </p:sp>
      <p:sp>
        <p:nvSpPr>
          <p:cNvPr id="33" name="TextBox 32"/>
          <p:cNvSpPr txBox="1"/>
          <p:nvPr/>
        </p:nvSpPr>
        <p:spPr>
          <a:xfrm>
            <a:off x="6531074" y="4212807"/>
            <a:ext cx="3017520" cy="286232"/>
          </a:xfrm>
          <a:prstGeom prst="rect">
            <a:avLst/>
          </a:prstGeom>
          <a:noFill/>
        </p:spPr>
        <p:txBody>
          <a:bodyPr wrap="square" tIns="36576" bIns="18288">
            <a:spAutoFit/>
          </a:bodyPr>
          <a:lstStyle/>
          <a:p>
            <a:pPr algn="l"/>
            <a:r>
              <a:rPr lang="en-US" sz="1500" b="1" dirty="0">
                <a:solidFill>
                  <a:srgbClr val="F5F8FC"/>
                </a:solidFill>
                <a:latin typeface="Aptos"/>
              </a:rPr>
              <a:t>Aysha Siddika</a:t>
            </a:r>
            <a:endParaRPr sz="1500" b="1" dirty="0">
              <a:solidFill>
                <a:srgbClr val="F5F8FC"/>
              </a:solidFill>
              <a:latin typeface="Aptos"/>
            </a:endParaRPr>
          </a:p>
        </p:txBody>
      </p:sp>
      <p:sp>
        <p:nvSpPr>
          <p:cNvPr id="34" name="TextBox 33"/>
          <p:cNvSpPr txBox="1"/>
          <p:nvPr/>
        </p:nvSpPr>
        <p:spPr>
          <a:xfrm>
            <a:off x="6531074" y="4560279"/>
            <a:ext cx="3017520" cy="237744"/>
          </a:xfrm>
          <a:prstGeom prst="rect">
            <a:avLst/>
          </a:prstGeom>
          <a:noFill/>
        </p:spPr>
        <p:txBody>
          <a:bodyPr wrap="square" tIns="36576" bIns="18288">
            <a:spAutoFit/>
          </a:bodyPr>
          <a:lstStyle/>
          <a:p>
            <a:pPr algn="l"/>
            <a:r>
              <a:rPr sz="1000" b="1">
                <a:solidFill>
                  <a:srgbClr val="9D7EFF"/>
                </a:solidFill>
                <a:latin typeface="Aptos"/>
              </a:rPr>
              <a:t>Presentation Lead</a:t>
            </a:r>
          </a:p>
        </p:txBody>
      </p:sp>
      <p:sp>
        <p:nvSpPr>
          <p:cNvPr id="35" name="TextBox 34"/>
          <p:cNvSpPr txBox="1"/>
          <p:nvPr/>
        </p:nvSpPr>
        <p:spPr>
          <a:xfrm>
            <a:off x="6531074" y="4852888"/>
            <a:ext cx="3017520" cy="475488"/>
          </a:xfrm>
          <a:prstGeom prst="rect">
            <a:avLst/>
          </a:prstGeom>
          <a:noFill/>
        </p:spPr>
        <p:txBody>
          <a:bodyPr wrap="square" tIns="36576" bIns="18288">
            <a:spAutoFit/>
          </a:bodyPr>
          <a:lstStyle/>
          <a:p>
            <a:pPr algn="l"/>
            <a:r>
              <a:rPr sz="900" b="0">
                <a:solidFill>
                  <a:srgbClr val="B0BED1"/>
                </a:solidFill>
                <a:latin typeface="Aptos"/>
              </a:rPr>
              <a:t>Slides, competition narrative and demo preparation.</a:t>
            </a:r>
          </a:p>
        </p:txBody>
      </p:sp>
      <p:sp>
        <p:nvSpPr>
          <p:cNvPr id="36" name="Rounded Rectangle 35"/>
          <p:cNvSpPr/>
          <p:nvPr/>
        </p:nvSpPr>
        <p:spPr>
          <a:xfrm>
            <a:off x="2414016" y="3886200"/>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414016" y="3886200"/>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78608" y="3995928"/>
            <a:ext cx="3017520" cy="201168"/>
          </a:xfrm>
          <a:prstGeom prst="rect">
            <a:avLst/>
          </a:prstGeom>
          <a:noFill/>
        </p:spPr>
        <p:txBody>
          <a:bodyPr wrap="square" tIns="36576" bIns="18288">
            <a:spAutoFit/>
          </a:bodyPr>
          <a:lstStyle/>
          <a:p>
            <a:pPr algn="l"/>
            <a:r>
              <a:rPr sz="900" b="1">
                <a:solidFill>
                  <a:srgbClr val="27D3BE"/>
                </a:solidFill>
                <a:latin typeface="Aptos"/>
              </a:rPr>
              <a:t>TEAM MEMBER 04</a:t>
            </a:r>
          </a:p>
        </p:txBody>
      </p:sp>
      <p:sp>
        <p:nvSpPr>
          <p:cNvPr id="39" name="TextBox 38"/>
          <p:cNvSpPr txBox="1"/>
          <p:nvPr/>
        </p:nvSpPr>
        <p:spPr>
          <a:xfrm>
            <a:off x="2578608" y="4233672"/>
            <a:ext cx="3017520" cy="286232"/>
          </a:xfrm>
          <a:prstGeom prst="rect">
            <a:avLst/>
          </a:prstGeom>
          <a:noFill/>
        </p:spPr>
        <p:txBody>
          <a:bodyPr wrap="square" tIns="36576" bIns="18288">
            <a:spAutoFit/>
          </a:bodyPr>
          <a:lstStyle/>
          <a:p>
            <a:pPr algn="l"/>
            <a:r>
              <a:rPr lang="en-US" sz="1500" b="1" dirty="0">
                <a:solidFill>
                  <a:srgbClr val="F5F8FC"/>
                </a:solidFill>
                <a:latin typeface="Aptos"/>
              </a:rPr>
              <a:t>Suprov Paul</a:t>
            </a:r>
            <a:endParaRPr sz="1500" b="1" dirty="0">
              <a:solidFill>
                <a:srgbClr val="F5F8FC"/>
              </a:solidFill>
              <a:latin typeface="Aptos"/>
            </a:endParaRPr>
          </a:p>
        </p:txBody>
      </p:sp>
      <p:sp>
        <p:nvSpPr>
          <p:cNvPr id="40" name="TextBox 39"/>
          <p:cNvSpPr txBox="1"/>
          <p:nvPr/>
        </p:nvSpPr>
        <p:spPr>
          <a:xfrm>
            <a:off x="2578608" y="4581144"/>
            <a:ext cx="3017520" cy="237744"/>
          </a:xfrm>
          <a:prstGeom prst="rect">
            <a:avLst/>
          </a:prstGeom>
          <a:noFill/>
        </p:spPr>
        <p:txBody>
          <a:bodyPr wrap="square" tIns="36576" bIns="18288">
            <a:spAutoFit/>
          </a:bodyPr>
          <a:lstStyle/>
          <a:p>
            <a:pPr algn="l"/>
            <a:r>
              <a:rPr sz="1000" b="1">
                <a:solidFill>
                  <a:srgbClr val="9D7EFF"/>
                </a:solidFill>
                <a:latin typeface="Aptos"/>
              </a:rPr>
              <a:t>Research &amp; Finance Lead</a:t>
            </a:r>
          </a:p>
        </p:txBody>
      </p:sp>
      <p:sp>
        <p:nvSpPr>
          <p:cNvPr id="41" name="TextBox 40"/>
          <p:cNvSpPr txBox="1"/>
          <p:nvPr/>
        </p:nvSpPr>
        <p:spPr>
          <a:xfrm>
            <a:off x="2578608" y="4873752"/>
            <a:ext cx="3017520" cy="475488"/>
          </a:xfrm>
          <a:prstGeom prst="rect">
            <a:avLst/>
          </a:prstGeom>
          <a:noFill/>
        </p:spPr>
        <p:txBody>
          <a:bodyPr wrap="square" tIns="36576" bIns="18288">
            <a:spAutoFit/>
          </a:bodyPr>
          <a:lstStyle/>
          <a:p>
            <a:pPr algn="l"/>
            <a:r>
              <a:rPr sz="900" b="0">
                <a:solidFill>
                  <a:srgbClr val="B0BED1"/>
                </a:solidFill>
                <a:latin typeface="Aptos"/>
              </a:rPr>
              <a:t>Student-finance research and example scenario review.</a:t>
            </a:r>
          </a:p>
        </p:txBody>
      </p:sp>
      <p:sp>
        <p:nvSpPr>
          <p:cNvPr id="42" name="Rounded Rectangle 41"/>
          <p:cNvSpPr/>
          <p:nvPr/>
        </p:nvSpPr>
        <p:spPr>
          <a:xfrm>
            <a:off x="6832976" y="1874519"/>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832976" y="1874519"/>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97568" y="1984247"/>
            <a:ext cx="3017520" cy="201168"/>
          </a:xfrm>
          <a:prstGeom prst="rect">
            <a:avLst/>
          </a:prstGeom>
          <a:noFill/>
        </p:spPr>
        <p:txBody>
          <a:bodyPr wrap="square" tIns="36576" bIns="18288">
            <a:spAutoFit/>
          </a:bodyPr>
          <a:lstStyle/>
          <a:p>
            <a:pPr algn="l"/>
            <a:r>
              <a:rPr sz="900" b="1">
                <a:solidFill>
                  <a:srgbClr val="27D3BE"/>
                </a:solidFill>
                <a:latin typeface="Aptos"/>
              </a:rPr>
              <a:t>TEAM MEMBER 05</a:t>
            </a:r>
          </a:p>
        </p:txBody>
      </p:sp>
      <p:sp>
        <p:nvSpPr>
          <p:cNvPr id="45" name="TextBox 44"/>
          <p:cNvSpPr txBox="1"/>
          <p:nvPr/>
        </p:nvSpPr>
        <p:spPr>
          <a:xfrm>
            <a:off x="6997568" y="2221991"/>
            <a:ext cx="3017520" cy="286232"/>
          </a:xfrm>
          <a:prstGeom prst="rect">
            <a:avLst/>
          </a:prstGeom>
          <a:noFill/>
        </p:spPr>
        <p:txBody>
          <a:bodyPr wrap="square" tIns="36576" bIns="18288">
            <a:spAutoFit/>
          </a:bodyPr>
          <a:lstStyle/>
          <a:p>
            <a:pPr algn="l"/>
            <a:r>
              <a:rPr lang="en-US" sz="1500" b="1" dirty="0">
                <a:solidFill>
                  <a:srgbClr val="F5F8FC"/>
                </a:solidFill>
                <a:latin typeface="Aptos"/>
              </a:rPr>
              <a:t>Dibyajit Roy </a:t>
            </a:r>
            <a:endParaRPr sz="1500" b="1" dirty="0">
              <a:solidFill>
                <a:srgbClr val="F5F8FC"/>
              </a:solidFill>
              <a:latin typeface="Aptos"/>
            </a:endParaRPr>
          </a:p>
        </p:txBody>
      </p:sp>
      <p:sp>
        <p:nvSpPr>
          <p:cNvPr id="46" name="TextBox 45"/>
          <p:cNvSpPr txBox="1"/>
          <p:nvPr/>
        </p:nvSpPr>
        <p:spPr>
          <a:xfrm>
            <a:off x="6997568" y="2569463"/>
            <a:ext cx="3017520" cy="237744"/>
          </a:xfrm>
          <a:prstGeom prst="rect">
            <a:avLst/>
          </a:prstGeom>
          <a:noFill/>
        </p:spPr>
        <p:txBody>
          <a:bodyPr wrap="square" tIns="36576" bIns="18288">
            <a:spAutoFit/>
          </a:bodyPr>
          <a:lstStyle/>
          <a:p>
            <a:pPr algn="l"/>
            <a:r>
              <a:rPr sz="1000" b="1">
                <a:solidFill>
                  <a:srgbClr val="9D7EFF"/>
                </a:solidFill>
                <a:latin typeface="Aptos"/>
              </a:rPr>
              <a:t>Testing &amp; Submission Lead</a:t>
            </a:r>
          </a:p>
        </p:txBody>
      </p:sp>
      <p:sp>
        <p:nvSpPr>
          <p:cNvPr id="47" name="TextBox 46"/>
          <p:cNvSpPr txBox="1"/>
          <p:nvPr/>
        </p:nvSpPr>
        <p:spPr>
          <a:xfrm>
            <a:off x="6997568" y="2862071"/>
            <a:ext cx="3017520" cy="475488"/>
          </a:xfrm>
          <a:prstGeom prst="rect">
            <a:avLst/>
          </a:prstGeom>
          <a:noFill/>
        </p:spPr>
        <p:txBody>
          <a:bodyPr wrap="square" tIns="36576" bIns="18288">
            <a:spAutoFit/>
          </a:bodyPr>
          <a:lstStyle/>
          <a:p>
            <a:pPr algn="l"/>
            <a:r>
              <a:rPr sz="900" b="0" dirty="0">
                <a:solidFill>
                  <a:srgbClr val="B0BED1"/>
                </a:solidFill>
                <a:latin typeface="Aptos"/>
              </a:rPr>
              <a:t>Evidence, final checklist and registration coordination.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875520" cy="274320"/>
          </a:xfrm>
          <a:prstGeom prst="rect">
            <a:avLst/>
          </a:prstGeom>
          <a:noFill/>
        </p:spPr>
        <p:txBody>
          <a:bodyPr wrap="square" lIns="36576" tIns="36576" rIns="36576" bIns="36576" anchor="t">
            <a:spAutoFit/>
          </a:bodyPr>
          <a:lstStyle/>
          <a:p>
            <a:pPr algn="l">
              <a:spcAft>
                <a:spcPts val="0"/>
              </a:spcAft>
            </a:pPr>
            <a:r>
              <a:rPr sz="1000" b="1" dirty="0">
                <a:solidFill>
                  <a:srgbClr val="2DD4BF"/>
                </a:solidFill>
                <a:latin typeface="Aptos"/>
              </a:rPr>
              <a:t>EDUWALLET AI</a:t>
            </a:r>
          </a:p>
        </p:txBody>
      </p:sp>
      <p:sp>
        <p:nvSpPr>
          <p:cNvPr id="4" name="TextBox 3"/>
          <p:cNvSpPr txBox="1"/>
          <p:nvPr/>
        </p:nvSpPr>
        <p:spPr>
          <a:xfrm>
            <a:off x="777240" y="1022684"/>
            <a:ext cx="10424160" cy="4290405"/>
          </a:xfrm>
          <a:prstGeom prst="rect">
            <a:avLst/>
          </a:prstGeom>
          <a:noFill/>
        </p:spPr>
        <p:txBody>
          <a:bodyPr wrap="square" lIns="36576" tIns="36576" rIns="36576" bIns="36576" anchor="t">
            <a:spAutoFit/>
          </a:bodyPr>
          <a:lstStyle/>
          <a:p>
            <a:r>
              <a:rPr lang="en-US" sz="2700" b="1" dirty="0">
                <a:solidFill>
                  <a:schemeClr val="bg1"/>
                </a:solidFill>
                <a:latin typeface="Aptos" panose="020B0004020202020204" pitchFamily="34" charset="0"/>
              </a:rPr>
              <a:t>Special Acknowledgment</a:t>
            </a:r>
          </a:p>
          <a:p>
            <a:endParaRPr lang="en-US" sz="2700" b="1" dirty="0">
              <a:solidFill>
                <a:schemeClr val="bg1"/>
              </a:solidFill>
              <a:latin typeface="Aptos" panose="020B0004020202020204" pitchFamily="34" charset="0"/>
            </a:endParaRPr>
          </a:p>
          <a:p>
            <a:endParaRPr lang="en-US" b="1" dirty="0">
              <a:solidFill>
                <a:schemeClr val="bg1"/>
              </a:solidFill>
              <a:latin typeface="Aptos" panose="020B0004020202020204" pitchFamily="34" charset="0"/>
            </a:endParaRPr>
          </a:p>
          <a:p>
            <a:r>
              <a:rPr lang="en-US" b="1" dirty="0">
                <a:solidFill>
                  <a:srgbClr val="2DD4BF"/>
                </a:solidFill>
                <a:latin typeface="Aptos" panose="020B0004020202020204" pitchFamily="34" charset="0"/>
              </a:rPr>
              <a:t>Snigdha Chakraborty.</a:t>
            </a:r>
          </a:p>
          <a:p>
            <a:endParaRPr lang="en-US" dirty="0">
              <a:solidFill>
                <a:schemeClr val="bg1"/>
              </a:solidFill>
              <a:latin typeface="Aptos" panose="020B0004020202020204" pitchFamily="34" charset="0"/>
            </a:endParaRPr>
          </a:p>
          <a:p>
            <a:r>
              <a:rPr lang="en-US" sz="1200" dirty="0">
                <a:solidFill>
                  <a:schemeClr val="bg1"/>
                </a:solidFill>
                <a:latin typeface="Aptos" panose="020B0004020202020204" pitchFamily="34" charset="0"/>
              </a:rPr>
              <a:t>We would like to express our heartfelt gratitude to Snigdha Chakraborty for her valuable contributions to the documentation of EduWallet AI. Her support, dedication, and effort helped strengthen our project documentation and support the development of this prototype.</a:t>
            </a:r>
          </a:p>
          <a:p>
            <a:endParaRPr lang="en-US" sz="1200" dirty="0">
              <a:solidFill>
                <a:schemeClr val="bg1"/>
              </a:solidFill>
              <a:latin typeface="Aptos" panose="020B0004020202020204" pitchFamily="34" charset="0"/>
            </a:endParaRPr>
          </a:p>
          <a:p>
            <a:r>
              <a:rPr lang="en-US" sz="1200" b="1" dirty="0">
                <a:solidFill>
                  <a:schemeClr val="bg1"/>
                </a:solidFill>
                <a:latin typeface="Aptos" panose="020B0004020202020204" pitchFamily="34" charset="0"/>
              </a:rPr>
              <a:t>Thank you for being part of our project journey.</a:t>
            </a:r>
            <a:endParaRPr lang="en-US" sz="1200" dirty="0">
              <a:solidFill>
                <a:schemeClr val="bg1"/>
              </a:solidFill>
              <a:latin typeface="Aptos" panose="020B0004020202020204" pitchFamily="34" charset="0"/>
            </a:endParaRPr>
          </a:p>
          <a:p>
            <a:endParaRPr lang="en-US" sz="1700" b="1" dirty="0">
              <a:solidFill>
                <a:schemeClr val="bg1"/>
              </a:solidFill>
              <a:latin typeface="Aptos" panose="020B0004020202020204" pitchFamily="34" charset="0"/>
            </a:endParaRPr>
          </a:p>
          <a:p>
            <a:endParaRPr lang="en-US" b="1" dirty="0">
              <a:solidFill>
                <a:schemeClr val="bg1"/>
              </a:solidFill>
              <a:latin typeface="Aptos" panose="020B0004020202020204" pitchFamily="34" charset="0"/>
            </a:endParaRPr>
          </a:p>
          <a:p>
            <a:r>
              <a:rPr lang="en-US" sz="1700" b="1" dirty="0">
                <a:solidFill>
                  <a:srgbClr val="2DD4BF"/>
                </a:solidFill>
                <a:latin typeface="Aptos" panose="020B0004020202020204" pitchFamily="34" charset="0"/>
              </a:rPr>
              <a:t>Ruhnaz Kashfi.</a:t>
            </a:r>
          </a:p>
          <a:p>
            <a:endParaRPr lang="en-US" dirty="0">
              <a:solidFill>
                <a:schemeClr val="bg1"/>
              </a:solidFill>
              <a:latin typeface="Aptos" panose="020B0004020202020204" pitchFamily="34" charset="0"/>
            </a:endParaRPr>
          </a:p>
          <a:p>
            <a:r>
              <a:rPr lang="en-US" sz="1200" dirty="0">
                <a:solidFill>
                  <a:schemeClr val="bg1"/>
                </a:solidFill>
                <a:latin typeface="Aptos" panose="020B0004020202020204" pitchFamily="34" charset="0"/>
              </a:rPr>
              <a:t>We would like to express our heartfelt gratitude to Ruhnaz Kashfi for her valuable contributions to the documentation of EduWallet AI. Her support, dedication, and effort helped strengthen our project documentation and support the development of this prototype.</a:t>
            </a:r>
          </a:p>
          <a:p>
            <a:endParaRPr lang="en-US" sz="1200" dirty="0">
              <a:solidFill>
                <a:schemeClr val="bg1"/>
              </a:solidFill>
              <a:latin typeface="Aptos" panose="020B0004020202020204" pitchFamily="34" charset="0"/>
            </a:endParaRPr>
          </a:p>
          <a:p>
            <a:r>
              <a:rPr lang="en-US" sz="1200" b="1" dirty="0">
                <a:solidFill>
                  <a:schemeClr val="bg1"/>
                </a:solidFill>
                <a:latin typeface="Aptos" panose="020B0004020202020204" pitchFamily="34" charset="0"/>
              </a:rPr>
              <a:t>Thank you for being part of our project journey.</a:t>
            </a:r>
            <a:endParaRPr lang="en-US" sz="1200" dirty="0">
              <a:solidFill>
                <a:schemeClr val="bg1"/>
              </a:solidFill>
              <a:latin typeface="Aptos"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a:extLst>
            <a:ext uri="{FF2B5EF4-FFF2-40B4-BE49-F238E27FC236}">
              <a16:creationId xmlns:a16="http://schemas.microsoft.com/office/drawing/2014/main" id="{7B63F31A-F72E-3A1F-B9CB-7CC7FF904EC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B583911-A86C-581F-F85A-4637C0E75A59}"/>
              </a:ext>
            </a:extLst>
          </p:cNvPr>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010D0FB-1A4B-9326-E45F-C7B5D26DD9C0}"/>
              </a:ext>
            </a:extLst>
          </p:cNvPr>
          <p:cNvSpPr txBox="1"/>
          <p:nvPr/>
        </p:nvSpPr>
        <p:spPr>
          <a:xfrm>
            <a:off x="777240" y="749808"/>
            <a:ext cx="9875520" cy="274320"/>
          </a:xfrm>
          <a:prstGeom prst="rect">
            <a:avLst/>
          </a:prstGeom>
          <a:noFill/>
        </p:spPr>
        <p:txBody>
          <a:bodyPr wrap="square" lIns="36576" tIns="36576" rIns="36576" bIns="36576" anchor="t">
            <a:spAutoFit/>
          </a:bodyPr>
          <a:lstStyle/>
          <a:p>
            <a:pPr algn="l">
              <a:spcAft>
                <a:spcPts val="0"/>
              </a:spcAft>
            </a:pPr>
            <a:r>
              <a:rPr sz="1000" b="1" dirty="0">
                <a:solidFill>
                  <a:srgbClr val="2DD4BF"/>
                </a:solidFill>
                <a:latin typeface="Aptos"/>
              </a:rPr>
              <a:t>EDUWALLET AI</a:t>
            </a:r>
          </a:p>
        </p:txBody>
      </p:sp>
      <p:sp>
        <p:nvSpPr>
          <p:cNvPr id="4" name="TextBox 3">
            <a:extLst>
              <a:ext uri="{FF2B5EF4-FFF2-40B4-BE49-F238E27FC236}">
                <a16:creationId xmlns:a16="http://schemas.microsoft.com/office/drawing/2014/main" id="{DFD9EA92-0D3D-28DB-269E-1834C8DA66AC}"/>
              </a:ext>
            </a:extLst>
          </p:cNvPr>
          <p:cNvSpPr txBox="1"/>
          <p:nvPr/>
        </p:nvSpPr>
        <p:spPr>
          <a:xfrm>
            <a:off x="777240" y="1417320"/>
            <a:ext cx="10424160" cy="1371600"/>
          </a:xfrm>
          <a:prstGeom prst="rect">
            <a:avLst/>
          </a:prstGeom>
          <a:noFill/>
        </p:spPr>
        <p:txBody>
          <a:bodyPr wrap="square" lIns="36576" tIns="36576" rIns="36576" bIns="36576" anchor="t">
            <a:spAutoFit/>
          </a:bodyPr>
          <a:lstStyle/>
          <a:p>
            <a:pPr algn="l">
              <a:spcAft>
                <a:spcPts val="0"/>
              </a:spcAft>
            </a:pPr>
            <a:r>
              <a:rPr sz="3400" b="1" dirty="0">
                <a:solidFill>
                  <a:srgbClr val="F5F8FC"/>
                </a:solidFill>
                <a:latin typeface="Aptos"/>
              </a:rPr>
              <a:t>Plan with clarity.
Prepare for uncertainty.</a:t>
            </a:r>
          </a:p>
        </p:txBody>
      </p:sp>
      <p:sp>
        <p:nvSpPr>
          <p:cNvPr id="5" name="TextBox 4">
            <a:extLst>
              <a:ext uri="{FF2B5EF4-FFF2-40B4-BE49-F238E27FC236}">
                <a16:creationId xmlns:a16="http://schemas.microsoft.com/office/drawing/2014/main" id="{A2B201FC-75CE-C465-F4B7-C76DB7B6AD96}"/>
              </a:ext>
            </a:extLst>
          </p:cNvPr>
          <p:cNvSpPr txBox="1"/>
          <p:nvPr/>
        </p:nvSpPr>
        <p:spPr>
          <a:xfrm>
            <a:off x="822960" y="2569051"/>
            <a:ext cx="9784080" cy="502920"/>
          </a:xfrm>
          <a:prstGeom prst="rect">
            <a:avLst/>
          </a:prstGeom>
          <a:noFill/>
        </p:spPr>
        <p:txBody>
          <a:bodyPr wrap="square" lIns="36576" tIns="36576" rIns="36576" bIns="36576" anchor="t">
            <a:spAutoFit/>
          </a:bodyPr>
          <a:lstStyle/>
          <a:p>
            <a:pPr algn="l">
              <a:spcAft>
                <a:spcPts val="0"/>
              </a:spcAft>
            </a:pPr>
            <a:r>
              <a:rPr sz="1700" b="0" dirty="0">
                <a:solidFill>
                  <a:srgbClr val="99F6E4"/>
                </a:solidFill>
                <a:latin typeface="Aptos"/>
              </a:rPr>
              <a:t>An interactive financial readiness simulator for international students.</a:t>
            </a:r>
          </a:p>
        </p:txBody>
      </p:sp>
      <p:sp>
        <p:nvSpPr>
          <p:cNvPr id="6" name="Rounded Rectangle 5">
            <a:extLst>
              <a:ext uri="{FF2B5EF4-FFF2-40B4-BE49-F238E27FC236}">
                <a16:creationId xmlns:a16="http://schemas.microsoft.com/office/drawing/2014/main" id="{BFCEBAF1-6DDD-7046-1735-C46C2A7A5AB7}"/>
              </a:ext>
            </a:extLst>
          </p:cNvPr>
          <p:cNvSpPr/>
          <p:nvPr/>
        </p:nvSpPr>
        <p:spPr>
          <a:xfrm>
            <a:off x="804671" y="3287218"/>
            <a:ext cx="6808911" cy="231219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CEB97B8A-07A7-CE21-D087-BBFAC56DA923}"/>
              </a:ext>
            </a:extLst>
          </p:cNvPr>
          <p:cNvSpPr txBox="1"/>
          <p:nvPr/>
        </p:nvSpPr>
        <p:spPr>
          <a:xfrm>
            <a:off x="1234440" y="3560621"/>
            <a:ext cx="4480560" cy="1966692"/>
          </a:xfrm>
          <a:prstGeom prst="rect">
            <a:avLst/>
          </a:prstGeom>
          <a:noFill/>
        </p:spPr>
        <p:txBody>
          <a:bodyPr wrap="square" lIns="36576" tIns="36576" rIns="36576" bIns="36576" anchor="t">
            <a:spAutoFit/>
          </a:bodyPr>
          <a:lstStyle/>
          <a:p>
            <a:pPr algn="l">
              <a:spcAft>
                <a:spcPts val="0"/>
              </a:spcAft>
            </a:pPr>
            <a:endParaRPr lang="en-US" sz="1700" b="1" dirty="0">
              <a:solidFill>
                <a:srgbClr val="F5F8FC"/>
              </a:solidFill>
              <a:latin typeface="Aptos"/>
            </a:endParaRPr>
          </a:p>
          <a:p>
            <a:pPr algn="l">
              <a:spcAft>
                <a:spcPts val="0"/>
              </a:spcAft>
            </a:pPr>
            <a:r>
              <a:rPr lang="en-US" sz="2400" b="1" dirty="0">
                <a:solidFill>
                  <a:srgbClr val="F5F8FC"/>
                </a:solidFill>
                <a:latin typeface="Aptos"/>
              </a:rPr>
              <a:t>THANK YOU</a:t>
            </a:r>
          </a:p>
          <a:p>
            <a:endParaRPr lang="en-US" sz="1700" b="1" dirty="0">
              <a:solidFill>
                <a:srgbClr val="F5F8FC"/>
              </a:solidFill>
              <a:latin typeface="Aptos"/>
            </a:endParaRPr>
          </a:p>
          <a:p>
            <a:r>
              <a:rPr lang="en-US" sz="1600" dirty="0">
                <a:solidFill>
                  <a:schemeClr val="bg1"/>
                </a:solidFill>
                <a:latin typeface="Aptos" panose="020B0004020202020204" pitchFamily="34" charset="0"/>
              </a:rPr>
              <a:t>Explore the Live Prototype</a:t>
            </a:r>
          </a:p>
          <a:p>
            <a:r>
              <a:rPr lang="en-US" sz="1600" dirty="0">
                <a:solidFill>
                  <a:schemeClr val="bg1"/>
                </a:solidFill>
                <a:hlinkClick r:id="rId2">
                  <a:extLst>
                    <a:ext uri="{A12FA001-AC4F-418D-AE19-62706E023703}">
                      <ahyp:hlinkClr xmlns:ahyp="http://schemas.microsoft.com/office/drawing/2018/hyperlinkcolor" val="tx"/>
                    </a:ext>
                  </a:extLst>
                </a:hlinkClick>
              </a:rPr>
              <a:t>https://eduwallet-ai.streamlit.app/</a:t>
            </a:r>
            <a:endParaRPr lang="en-US" sz="1600" dirty="0">
              <a:solidFill>
                <a:schemeClr val="bg1"/>
              </a:solidFill>
            </a:endParaRPr>
          </a:p>
          <a:p>
            <a:endParaRPr lang="en-US" sz="1600" dirty="0">
              <a:solidFill>
                <a:schemeClr val="bg1"/>
              </a:solidFill>
              <a:latin typeface="Aptos" panose="020B0004020202020204" pitchFamily="34" charset="0"/>
            </a:endParaRPr>
          </a:p>
          <a:p>
            <a:pPr algn="l">
              <a:spcAft>
                <a:spcPts val="0"/>
              </a:spcAft>
            </a:pPr>
            <a:endParaRPr sz="1700" b="1" dirty="0">
              <a:solidFill>
                <a:srgbClr val="F5F8FC"/>
              </a:solidFill>
              <a:latin typeface="Aptos"/>
            </a:endParaRPr>
          </a:p>
        </p:txBody>
      </p:sp>
      <p:sp>
        <p:nvSpPr>
          <p:cNvPr id="9" name="TextBox 8">
            <a:extLst>
              <a:ext uri="{FF2B5EF4-FFF2-40B4-BE49-F238E27FC236}">
                <a16:creationId xmlns:a16="http://schemas.microsoft.com/office/drawing/2014/main" id="{6DE8474F-CACD-4CB1-23EA-5F2ACE9F1AC4}"/>
              </a:ext>
            </a:extLst>
          </p:cNvPr>
          <p:cNvSpPr txBox="1"/>
          <p:nvPr/>
        </p:nvSpPr>
        <p:spPr>
          <a:xfrm>
            <a:off x="777240" y="6097714"/>
            <a:ext cx="10698480" cy="227755"/>
          </a:xfrm>
          <a:prstGeom prst="rect">
            <a:avLst/>
          </a:prstGeom>
          <a:noFill/>
        </p:spPr>
        <p:txBody>
          <a:bodyPr wrap="square" lIns="36576" tIns="36576" rIns="36576" bIns="36576" anchor="t">
            <a:spAutoFit/>
          </a:bodyPr>
          <a:lstStyle/>
          <a:p>
            <a:pPr algn="l">
              <a:spcAft>
                <a:spcPts val="0"/>
              </a:spcAft>
            </a:pPr>
            <a:r>
              <a:rPr lang="en-US" sz="1000" b="0" dirty="0">
                <a:solidFill>
                  <a:srgbClr val="B1BECF"/>
                </a:solidFill>
                <a:latin typeface="Aptos"/>
              </a:rPr>
              <a:t>EduWallet AI</a:t>
            </a:r>
            <a:r>
              <a:rPr sz="1000" b="0" dirty="0">
                <a:solidFill>
                  <a:srgbClr val="B1BECF"/>
                </a:solidFill>
                <a:latin typeface="Aptos"/>
              </a:rPr>
              <a:t>  •  Topic C: Cross-border &amp; Student Finance Assistant</a:t>
            </a:r>
          </a:p>
        </p:txBody>
      </p:sp>
      <p:pic>
        <p:nvPicPr>
          <p:cNvPr id="10" name="Picture 9">
            <a:extLst>
              <a:ext uri="{FF2B5EF4-FFF2-40B4-BE49-F238E27FC236}">
                <a16:creationId xmlns:a16="http://schemas.microsoft.com/office/drawing/2014/main" id="{CF89616C-57AA-1BE2-28BF-F314EF9F2BB7}"/>
              </a:ext>
            </a:extLst>
          </p:cNvPr>
          <p:cNvPicPr>
            <a:picLocks noChangeAspect="1"/>
          </p:cNvPicPr>
          <p:nvPr/>
        </p:nvPicPr>
        <p:blipFill>
          <a:blip r:embed="rId3"/>
          <a:stretch>
            <a:fillRect/>
          </a:stretch>
        </p:blipFill>
        <p:spPr>
          <a:xfrm>
            <a:off x="5384933" y="3710143"/>
            <a:ext cx="1483093" cy="1483093"/>
          </a:xfrm>
          <a:prstGeom prst="rect">
            <a:avLst/>
          </a:prstGeom>
        </p:spPr>
      </p:pic>
    </p:spTree>
    <p:extLst>
      <p:ext uri="{BB962C8B-B14F-4D97-AF65-F5344CB8AC3E}">
        <p14:creationId xmlns:p14="http://schemas.microsoft.com/office/powerpoint/2010/main" val="4041636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982</Words>
  <Application>Microsoft Office PowerPoint</Application>
  <PresentationFormat>Widescreen</PresentationFormat>
  <Paragraphs>163</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Fardin Shahriar</cp:lastModifiedBy>
  <cp:revision>6</cp:revision>
  <dcterms:created xsi:type="dcterms:W3CDTF">2013-01-27T09:14:16Z</dcterms:created>
  <dcterms:modified xsi:type="dcterms:W3CDTF">2026-10-18T09:53:09Z</dcterms:modified>
  <cp:category/>
</cp:coreProperties>
</file>